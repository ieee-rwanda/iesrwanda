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0266f194d47d6" /><Relationship Type="http://schemas.openxmlformats.org/officeDocument/2006/relationships/extended-properties" Target="/docProps/app.xml" Id="R8412a10912a047dc" /><Relationship Type="http://schemas.openxmlformats.org/officeDocument/2006/relationships/officeDocument" Target="/ppt/presentation.xml" Id="R8d077c69e92a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00030e79b4a75"/>
  </p:sldMasterIdLst>
  <p:notesMasterIdLst>
    <p:notesMasterId xmlns:r="http://schemas.openxmlformats.org/officeDocument/2006/relationships" r:id="R714a937de7a1404d"/>
  </p:notesMasterIdLst>
  <p:sldIdLst>
    <p:sldId xmlns:r="http://schemas.openxmlformats.org/officeDocument/2006/relationships" id="256" r:id="Rfa3ca4d10a8245d7"/>
  </p:sldIdLst>
  <p:sldSz cx="10287000" cy="15430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d3eec5c5147ef" /><Relationship Type="http://schemas.openxmlformats.org/officeDocument/2006/relationships/slideMaster" Target="/ppt/slideMasters/slideMaster1.xml" Id="Rad800030e79b4a75" /><Relationship Type="http://schemas.openxmlformats.org/officeDocument/2006/relationships/notesMaster" Target="/ppt/notesMasters/notesMaster1.xml" Id="R714a937de7a1404d" /><Relationship Type="http://schemas.openxmlformats.org/officeDocument/2006/relationships/presProps" Target="/ppt/presProps.xml" Id="R7b2fdb56b0f6456c" /><Relationship Type="http://schemas.openxmlformats.org/officeDocument/2006/relationships/tableStyles" Target="/ppt/tableStyles.xml" Id="R0906f1e9daec4131" /><Relationship Type="http://schemas.openxmlformats.org/officeDocument/2006/relationships/slide" Target="/ppt/slides/slide1.xml" Id="Rfa3ca4d10a82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6cb44f9a4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dddba28cc43de" /><Relationship Type="http://schemas.openxmlformats.org/officeDocument/2006/relationships/notesMaster" Target="/ppt/notesMasters/notesMaster1.xml" Id="R0c6095cbf53e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6a3f5232542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73e465fae413c" /><Relationship Type="http://schemas.openxmlformats.org/officeDocument/2006/relationships/slideLayout" Target="/ppt/slideLayouts/slideLayout1.xml" Id="R2f06cbb4d339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6cbb4d339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f2b0054384e37" /><Relationship Type="http://schemas.openxmlformats.org/officeDocument/2006/relationships/image" Target="/ppt/media/image.png" Id="Rcb9439415080495f" /><Relationship Type="http://schemas.openxmlformats.org/officeDocument/2006/relationships/image" Target="/ppt/media/image2.png" Id="R4335e5b73d524889" /><Relationship Type="http://schemas.openxmlformats.org/officeDocument/2006/relationships/notesSlide" Target="/ppt/notesSlides/notesSlide1.xml" Id="R1de68f9eea364d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navy-header">
            <a:extLst xmlns:a="http://schemas.openxmlformats.org/drawingml/2006/main">
              <a:ext uri="{FF2B5EF4-FFF2-40B4-BE49-F238E27FC236}">
                <a16:creationId xmlns:a16="http://schemas.microsoft.com/office/drawing/2014/main" id="{282BFC29-1DDA-4D54-88B0-8C7AE70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439415080495f"/>
          <a:stretch xmlns:a="http://schemas.openxmlformats.org/drawingml/2006/main"/>
        </p:blipFill>
        <p:spPr>
          <a:xfrm xmlns:a="http://schemas.openxmlformats.org/drawingml/2006/main">
            <a:off x="1571625" y="343795"/>
            <a:ext cx="7143750" cy="1665085"/>
          </a:xfrm>
          <a:prstGeom xmlns:a="http://schemas.openxmlformats.org/drawingml/2006/main" prst="rect">
            <a:avLst/>
          </a:prstGeom>
        </p:spPr>
      </p:pic>
      <p:sp>
        <p:nvSpPr>
          <p:cNvPr id="3" name="welcome-eyebrow">
            <a:extLst xmlns:a="http://schemas.openxmlformats.org/drawingml/2006/main">
              <a:ext uri="{FF2B5EF4-FFF2-40B4-BE49-F238E27FC236}">
                <a16:creationId xmlns:a16="http://schemas.microsoft.com/office/drawing/2014/main" id="{EEAA338A-60D2-4ACF-8C94-A35DC4D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891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9C9"/>
                </a:solidFill>
              </a:defRPr>
            </a:pPr>
            <a:r>
              <a:rPr sz="2100" b="1">
                <a:solidFill>
                  <a:srgbClr val="1479C9"/>
                </a:solidFill>
              </a:rPr>
              <a:t>WELCOME TO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D90199BE-6208-4297-9E59-D7B17775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61B3D"/>
                </a:solidFill>
              </a:defRPr>
            </a:pPr>
            <a:r>
              <a:rPr sz="4350" b="1">
                <a:solidFill>
                  <a:srgbClr val="061B3D"/>
                </a:solidFill>
              </a:rPr>
              <a:t>IEEE AESS RWANDA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2B4AF1B-D145-47D0-80B7-52E54EB1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2188AFFC-B1C4-4410-B090-8678F1DC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A community for people shaping aerospace and electronic systems in Rwanda.</a:t>
            </a:r>
          </a:p>
        </p:txBody>
      </p:sp>
      <p:sp>
        <p:nvSpPr>
          <p:cNvPr id="7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2C9BCC77-FF53-4C83-85A7-04522BA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891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B3D"/>
                </a:solidFill>
              </a:defRPr>
            </a:pPr>
            <a:r>
              <a:rPr sz="2100" b="1">
                <a:solidFill>
                  <a:srgbClr val="061B3D"/>
                </a:solidFill>
              </a:rPr>
              <a:t>WHAT YOU GAIN WHEN YOU CONNECT</a:t>
            </a:r>
          </a:p>
        </p:txBody>
      </p:sp>
      <p:sp>
        <p:nvSpPr>
          <p:cNvPr id="8" name="benefit-01-number">
            <a:extLst xmlns:a="http://schemas.openxmlformats.org/drawingml/2006/main">
              <a:ext uri="{FF2B5EF4-FFF2-40B4-BE49-F238E27FC236}">
                <a16:creationId xmlns:a16="http://schemas.microsoft.com/office/drawing/2014/main" id="{E975C211-DAD5-43F6-9F74-465131A8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0"/>
            <a:ext cx="552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enefit-01-number-text">
            <a:extLst xmlns:a="http://schemas.openxmlformats.org/drawingml/2006/main">
              <a:ext uri="{FF2B5EF4-FFF2-40B4-BE49-F238E27FC236}">
                <a16:creationId xmlns:a16="http://schemas.microsoft.com/office/drawing/2014/main" id="{59682407-ACB3-430D-9830-7E60CF7F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9C9"/>
                </a:solidFill>
              </a:defRPr>
            </a:pPr>
            <a:r>
              <a:rPr sz="1500" b="1">
                <a:solidFill>
                  <a:srgbClr val="1479C9"/>
                </a:solidFill>
              </a:rPr>
              <a:t>01</a:t>
            </a:r>
          </a:p>
        </p:txBody>
      </p:sp>
      <p:sp>
        <p:nvSpPr>
          <p:cNvPr id="10" name="benefit-01-heading">
            <a:extLst xmlns:a="http://schemas.openxmlformats.org/drawingml/2006/main">
              <a:ext uri="{FF2B5EF4-FFF2-40B4-BE49-F238E27FC236}">
                <a16:creationId xmlns:a16="http://schemas.microsoft.com/office/drawing/2014/main" id="{2CE97161-10B7-4C7E-A69A-53065B7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246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B3D"/>
                </a:solidFill>
              </a:defRPr>
            </a:pPr>
            <a:r>
              <a:rPr sz="1800" b="1">
                <a:solidFill>
                  <a:srgbClr val="061B3D"/>
                </a:solidFill>
              </a:rPr>
              <a:t>Professional connections</a:t>
            </a:r>
          </a:p>
        </p:txBody>
      </p:sp>
      <p:sp>
        <p:nvSpPr>
          <p:cNvPr id="11" name="benefit-01-body">
            <a:extLst xmlns:a="http://schemas.openxmlformats.org/drawingml/2006/main">
              <a:ext uri="{FF2B5EF4-FFF2-40B4-BE49-F238E27FC236}">
                <a16:creationId xmlns:a16="http://schemas.microsoft.com/office/drawing/2014/main" id="{C0E211E6-73CA-48CF-8454-46353D1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0485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Meet engineers, researchers, students and industry leaders.</a:t>
            </a:r>
          </a:p>
        </p:txBody>
      </p:sp>
      <p:sp>
        <p:nvSpPr>
          <p:cNvPr id="12" name="benefit-02-number">
            <a:extLst xmlns:a="http://schemas.openxmlformats.org/drawingml/2006/main">
              <a:ext uri="{FF2B5EF4-FFF2-40B4-BE49-F238E27FC236}">
                <a16:creationId xmlns:a16="http://schemas.microsoft.com/office/drawing/2014/main" id="{BA554205-FFDB-4A29-91E1-C06E79EF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53350"/>
            <a:ext cx="552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enefit-02-number-text">
            <a:extLst xmlns:a="http://schemas.openxmlformats.org/drawingml/2006/main">
              <a:ext uri="{FF2B5EF4-FFF2-40B4-BE49-F238E27FC236}">
                <a16:creationId xmlns:a16="http://schemas.microsoft.com/office/drawing/2014/main" id="{CE70697F-1A70-4CBA-8A5A-A64646C9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533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9C9"/>
                </a:solidFill>
              </a:defRPr>
            </a:pPr>
            <a:r>
              <a:rPr sz="1500" b="1">
                <a:solidFill>
                  <a:srgbClr val="1479C9"/>
                </a:solidFill>
              </a:rPr>
              <a:t>02</a:t>
            </a:r>
          </a:p>
        </p:txBody>
      </p:sp>
      <p:sp>
        <p:nvSpPr>
          <p:cNvPr id="14" name="benefit-02-heading">
            <a:extLst xmlns:a="http://schemas.openxmlformats.org/drawingml/2006/main">
              <a:ext uri="{FF2B5EF4-FFF2-40B4-BE49-F238E27FC236}">
                <a16:creationId xmlns:a16="http://schemas.microsoft.com/office/drawing/2014/main" id="{8BABD991-0ED1-4F4A-BB4C-23ED979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7152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B3D"/>
                </a:solidFill>
              </a:defRPr>
            </a:pPr>
            <a:r>
              <a:rPr sz="1800" b="1">
                <a:solidFill>
                  <a:srgbClr val="061B3D"/>
                </a:solidFill>
              </a:rPr>
              <a:t>Practical learning</a:t>
            </a:r>
          </a:p>
        </p:txBody>
      </p:sp>
      <p:sp>
        <p:nvSpPr>
          <p:cNvPr id="15" name="benefit-02-body">
            <a:extLst xmlns:a="http://schemas.openxmlformats.org/drawingml/2006/main">
              <a:ext uri="{FF2B5EF4-FFF2-40B4-BE49-F238E27FC236}">
                <a16:creationId xmlns:a16="http://schemas.microsoft.com/office/drawing/2014/main" id="{A3607B47-CC6E-44EF-86A4-3C2A69A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391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Take part in technical talks, workshops and industry visits.</a:t>
            </a:r>
          </a:p>
        </p:txBody>
      </p:sp>
      <p:sp>
        <p:nvSpPr>
          <p:cNvPr id="16" name="benefit-03-number">
            <a:extLst xmlns:a="http://schemas.openxmlformats.org/drawingml/2006/main">
              <a:ext uri="{FF2B5EF4-FFF2-40B4-BE49-F238E27FC236}">
                <a16:creationId xmlns:a16="http://schemas.microsoft.com/office/drawing/2014/main" id="{4E8B8C25-A2D4-45E7-8DCD-8BAA520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43950"/>
            <a:ext cx="552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enefit-03-number-text">
            <a:extLst xmlns:a="http://schemas.openxmlformats.org/drawingml/2006/main">
              <a:ext uri="{FF2B5EF4-FFF2-40B4-BE49-F238E27FC236}">
                <a16:creationId xmlns:a16="http://schemas.microsoft.com/office/drawing/2014/main" id="{DD7F1DAF-EDEF-4233-804E-3E38D940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43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9C9"/>
                </a:solidFill>
              </a:defRPr>
            </a:pPr>
            <a:r>
              <a:rPr sz="1500" b="1">
                <a:solidFill>
                  <a:srgbClr val="1479C9"/>
                </a:solidFill>
              </a:rPr>
              <a:t>03</a:t>
            </a:r>
          </a:p>
        </p:txBody>
      </p:sp>
      <p:sp>
        <p:nvSpPr>
          <p:cNvPr id="18" name="benefit-03-heading">
            <a:extLst xmlns:a="http://schemas.openxmlformats.org/drawingml/2006/main">
              <a:ext uri="{FF2B5EF4-FFF2-40B4-BE49-F238E27FC236}">
                <a16:creationId xmlns:a16="http://schemas.microsoft.com/office/drawing/2014/main" id="{426BC3DA-24DE-4BB3-A8F0-CACA9B46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058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B3D"/>
                </a:solidFill>
              </a:defRPr>
            </a:pPr>
            <a:r>
              <a:rPr sz="1800" b="1">
                <a:solidFill>
                  <a:srgbClr val="061B3D"/>
                </a:solidFill>
              </a:rPr>
              <a:t>Career growth</a:t>
            </a:r>
          </a:p>
        </p:txBody>
      </p:sp>
      <p:sp>
        <p:nvSpPr>
          <p:cNvPr id="19" name="benefit-03-body">
            <a:extLst xmlns:a="http://schemas.openxmlformats.org/drawingml/2006/main">
              <a:ext uri="{FF2B5EF4-FFF2-40B4-BE49-F238E27FC236}">
                <a16:creationId xmlns:a16="http://schemas.microsoft.com/office/drawing/2014/main" id="{0604DAC1-CA9B-4624-B066-A264A100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0297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Find mentorship, leadership and professional development opportunities.</a:t>
            </a:r>
          </a:p>
        </p:txBody>
      </p:sp>
      <p:sp>
        <p:nvSpPr>
          <p:cNvPr id="20" name="benefit-04-number">
            <a:extLst xmlns:a="http://schemas.openxmlformats.org/drawingml/2006/main">
              <a:ext uri="{FF2B5EF4-FFF2-40B4-BE49-F238E27FC236}">
                <a16:creationId xmlns:a16="http://schemas.microsoft.com/office/drawing/2014/main" id="{1C3404B2-8ED1-43D4-A99F-6058923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34550"/>
            <a:ext cx="552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enefit-04-number-text">
            <a:extLst xmlns:a="http://schemas.openxmlformats.org/drawingml/2006/main">
              <a:ext uri="{FF2B5EF4-FFF2-40B4-BE49-F238E27FC236}">
                <a16:creationId xmlns:a16="http://schemas.microsoft.com/office/drawing/2014/main" id="{EF70D743-0484-4BF7-B927-23D712C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34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9C9"/>
                </a:solidFill>
              </a:defRPr>
            </a:pPr>
            <a:r>
              <a:rPr sz="1500" b="1">
                <a:solidFill>
                  <a:srgbClr val="1479C9"/>
                </a:solidFill>
              </a:rPr>
              <a:t>04</a:t>
            </a:r>
          </a:p>
        </p:txBody>
      </p:sp>
      <p:sp>
        <p:nvSpPr>
          <p:cNvPr id="22" name="benefit-04-heading">
            <a:extLst xmlns:a="http://schemas.openxmlformats.org/drawingml/2006/main">
              <a:ext uri="{FF2B5EF4-FFF2-40B4-BE49-F238E27FC236}">
                <a16:creationId xmlns:a16="http://schemas.microsoft.com/office/drawing/2014/main" id="{D6748ECC-690B-4F9A-A4D2-26B8208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6964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B3D"/>
                </a:solidFill>
              </a:defRPr>
            </a:pPr>
            <a:r>
              <a:rPr sz="1800" b="1">
                <a:solidFill>
                  <a:srgbClr val="061B3D"/>
                </a:solidFill>
              </a:rPr>
              <a:t>Research and innovation</a:t>
            </a:r>
          </a:p>
        </p:txBody>
      </p:sp>
      <p:sp>
        <p:nvSpPr>
          <p:cNvPr id="23" name="benefit-04-body">
            <a:extLst xmlns:a="http://schemas.openxmlformats.org/drawingml/2006/main">
              <a:ext uri="{FF2B5EF4-FFF2-40B4-BE49-F238E27FC236}">
                <a16:creationId xmlns:a16="http://schemas.microsoft.com/office/drawing/2014/main" id="{FB7A0FF8-9D87-4EA3-8615-3A43B7A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020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Collaborate on ideas and projects with real-world impact.</a:t>
            </a:r>
          </a:p>
        </p:txBody>
      </p:sp>
      <p:sp>
        <p:nvSpPr>
          <p:cNvPr id="24" name="benefit-05-number">
            <a:extLst xmlns:a="http://schemas.openxmlformats.org/drawingml/2006/main">
              <a:ext uri="{FF2B5EF4-FFF2-40B4-BE49-F238E27FC236}">
                <a16:creationId xmlns:a16="http://schemas.microsoft.com/office/drawing/2014/main" id="{CD5DC155-0A33-4268-AADD-0C538CA0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25150"/>
            <a:ext cx="552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enefit-05-number-text">
            <a:extLst xmlns:a="http://schemas.openxmlformats.org/drawingml/2006/main">
              <a:ext uri="{FF2B5EF4-FFF2-40B4-BE49-F238E27FC236}">
                <a16:creationId xmlns:a16="http://schemas.microsoft.com/office/drawing/2014/main" id="{4C9F2903-80AB-4B52-9164-8BE2F9B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25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9C9"/>
                </a:solidFill>
              </a:defRPr>
            </a:pPr>
            <a:r>
              <a:rPr sz="1500" b="1">
                <a:solidFill>
                  <a:srgbClr val="1479C9"/>
                </a:solidFill>
              </a:rPr>
              <a:t>05</a:t>
            </a:r>
          </a:p>
        </p:txBody>
      </p:sp>
      <p:sp>
        <p:nvSpPr>
          <p:cNvPr id="26" name="benefit-05-heading">
            <a:extLst xmlns:a="http://schemas.openxmlformats.org/drawingml/2006/main">
              <a:ext uri="{FF2B5EF4-FFF2-40B4-BE49-F238E27FC236}">
                <a16:creationId xmlns:a16="http://schemas.microsoft.com/office/drawing/2014/main" id="{7AC684F4-33AF-4A73-A4FE-1ACFCD1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870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B3D"/>
                </a:solidFill>
              </a:defRPr>
            </a:pPr>
            <a:r>
              <a:rPr sz="1800" b="1">
                <a:solidFill>
                  <a:srgbClr val="061B3D"/>
                </a:solidFill>
              </a:rPr>
              <a:t>A global community</a:t>
            </a:r>
          </a:p>
        </p:txBody>
      </p:sp>
      <p:sp>
        <p:nvSpPr>
          <p:cNvPr id="27" name="benefit-05-body">
            <a:extLst xmlns:a="http://schemas.openxmlformats.org/drawingml/2006/main">
              <a:ext uri="{FF2B5EF4-FFF2-40B4-BE49-F238E27FC236}">
                <a16:creationId xmlns:a16="http://schemas.microsoft.com/office/drawing/2014/main" id="{7B6D84BA-7F8F-4105-8E4A-FA9BD4F2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10109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Connect with the wider IEEE AESS network and its resources.</a:t>
            </a:r>
          </a:p>
        </p:txBody>
      </p:sp>
      <p:sp>
        <p:nvSpPr>
          <p:cNvPr id="28" name="cta-band">
            <a:extLst xmlns:a="http://schemas.openxmlformats.org/drawingml/2006/main">
              <a:ext uri="{FF2B5EF4-FFF2-40B4-BE49-F238E27FC236}">
                <a16:creationId xmlns:a16="http://schemas.microsoft.com/office/drawing/2014/main" id="{8F1BFA1C-7CAB-4B13-885F-CD1BC1A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68150"/>
            <a:ext cx="10287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ta-heading">
            <a:extLst xmlns:a="http://schemas.openxmlformats.org/drawingml/2006/main">
              <a:ext uri="{FF2B5EF4-FFF2-40B4-BE49-F238E27FC236}">
                <a16:creationId xmlns:a16="http://schemas.microsoft.com/office/drawing/2014/main" id="{4D3F2738-5649-44DC-9682-C8FB825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06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JOIN THE COMMUNITY</a:t>
            </a:r>
          </a:p>
        </p:txBody>
      </p:sp>
      <p:sp>
        <p:nvSpPr>
          <p:cNvPr id="30" name="cta-copy">
            <a:extLst xmlns:a="http://schemas.openxmlformats.org/drawingml/2006/main">
              <a:ext uri="{FF2B5EF4-FFF2-40B4-BE49-F238E27FC236}">
                <a16:creationId xmlns:a16="http://schemas.microsoft.com/office/drawing/2014/main" id="{3DFEA3FB-7BBE-4703-824B-8EC1458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8F7"/>
                </a:solidFill>
              </a:defRPr>
            </a:pPr>
            <a:r>
              <a:rPr sz="1800" b="0">
                <a:solidFill>
                  <a:srgbClr val="D7E8F7"/>
                </a:solidFill>
              </a:rPr>
              <a:t>Connect. Learn. Innovate. Lead.</a:t>
            </a:r>
          </a:p>
          <a:p xmlns:a="http://schemas.openxmlformats.org/drawingml/2006/main">
            <a:pPr algn="l">
              <a:defRPr sz="1800" b="0">
                <a:solidFill>
                  <a:srgbClr val="D7E8F7"/>
                </a:solidFill>
              </a:defRPr>
            </a:pPr>
            <a:r>
              <a:rPr sz="1800" b="0">
                <a:solidFill>
                  <a:srgbClr val="D7E8F7"/>
                </a:solidFill>
              </a:rPr>
              <a:t>Scan the code or visit the website.</a:t>
            </a:r>
          </a:p>
        </p:txBody>
      </p:sp>
      <p:sp>
        <p:nvSpPr>
          <p:cNvPr id="31" name="website">
            <a:extLst xmlns:a="http://schemas.openxmlformats.org/drawingml/2006/main">
              <a:ext uri="{FF2B5EF4-FFF2-40B4-BE49-F238E27FC236}">
                <a16:creationId xmlns:a16="http://schemas.microsoft.com/office/drawing/2014/main" id="{B140B2E1-E796-4BE7-BAC7-8F549C05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aess.ieeerwanda.org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5e5b73d524889"/>
          <a:stretch xmlns:a="http://schemas.openxmlformats.org/drawingml/2006/main"/>
        </p:blipFill>
        <p:spPr>
          <a:xfrm xmlns:a="http://schemas.openxmlformats.org/drawingml/2006/main">
            <a:off x="6724650" y="12287250"/>
            <a:ext cx="23812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36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2026-07-23T20:48:26.8450000Z</dcterms:created>
  <dcterms:modified xsi:type="dcterms:W3CDTF">2026-07-23T20:48:26.8450000Z</dcterms:modified>
</coreProperties>
</file>